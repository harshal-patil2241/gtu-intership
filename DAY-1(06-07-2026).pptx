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114800" cy="4114800"/>
          </a:xfrm>
          <a:prstGeom prst="ellipse">
            <a:avLst/>
          </a:prstGeom>
          <a:solidFill>
            <a:srgbClr val="6FA85A">
              <a:alpha val="22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1371600" y="4389120"/>
            <a:ext cx="3657600" cy="3657600"/>
          </a:xfrm>
          <a:prstGeom prst="ellipse">
            <a:avLst/>
          </a:prstGeom>
          <a:solidFill>
            <a:srgbClr val="6FA85A">
              <a:alpha val="18000"/>
            </a:srgbClr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822960" y="777240"/>
            <a:ext cx="822960" cy="822960"/>
          </a:xfrm>
          <a:prstGeom prst="ellipse">
            <a:avLst/>
          </a:prstGeom>
          <a:solidFill>
            <a:srgbClr val="6FA85A"/>
          </a:solidFill>
          <a:ln/>
        </p:spPr>
        <p:txBody>
          <a:bodyPr/>
          <a:p/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930" y="991210"/>
            <a:ext cx="395021" cy="39502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7373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E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CAPSTONE-LINKED SEMINAR PRESENTATION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22960" y="205740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&amp; Digital Tools for</a:t>
            </a:r>
            <a:endParaRPr lang="en-US" sz="3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Environmental Sustainability</a:t>
            </a:r>
            <a:endParaRPr lang="en-US" sz="3800" dirty="0"/>
          </a:p>
        </p:txBody>
      </p:sp>
      <p:sp>
        <p:nvSpPr>
          <p:cNvPr id="8" name="Shape 5"/>
          <p:cNvSpPr/>
          <p:nvPr/>
        </p:nvSpPr>
        <p:spPr>
          <a:xfrm>
            <a:off x="822960" y="3703320"/>
            <a:ext cx="2011680" cy="0"/>
          </a:xfrm>
          <a:prstGeom prst="line">
            <a:avLst/>
          </a:prstGeom>
          <a:noFill/>
          <a:ln w="25400">
            <a:solidFill>
              <a:srgbClr val="6FA85A"/>
            </a:solidFill>
            <a:prstDash val="solid"/>
          </a:ln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822960" y="3931920"/>
            <a:ext cx="7863840" cy="960120"/>
          </a:xfrm>
          <a:prstGeom prst="roundRect">
            <a:avLst>
              <a:gd name="adj" fmla="val 7619"/>
            </a:avLst>
          </a:prstGeom>
          <a:solidFill>
            <a:srgbClr val="FFFFFF">
              <a:alpha val="94000"/>
            </a:srgbClr>
          </a:solidFill>
          <a:ln/>
        </p:spPr>
        <p:txBody>
          <a:bodyPr/>
          <a:p/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" y="4078224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87552" y="438912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FA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987552" y="459028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Harshal Patil</a:t>
            </a:r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3512" y="4078224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953512" y="438912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FA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</a:t>
            </a:r>
            <a:endParaRPr lang="en-US" sz="900" dirty="0"/>
          </a:p>
        </p:txBody>
      </p:sp>
      <p:sp>
        <p:nvSpPr>
          <p:cNvPr id="15" name="Text 10"/>
          <p:cNvSpPr/>
          <p:nvPr/>
        </p:nvSpPr>
        <p:spPr>
          <a:xfrm>
            <a:off x="2953512" y="459028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240840131143</a:t>
            </a:r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4078224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919472" y="438912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FA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</a:t>
            </a:r>
            <a:endParaRPr lang="en-US" sz="900" dirty="0"/>
          </a:p>
        </p:txBody>
      </p:sp>
      <p:sp>
        <p:nvSpPr>
          <p:cNvPr id="18" name="Text 12"/>
          <p:cNvSpPr/>
          <p:nvPr/>
        </p:nvSpPr>
        <p:spPr>
          <a:xfrm>
            <a:off x="4919472" y="459028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4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</a:t>
            </a:r>
            <a:endParaRPr lang="en-US" sz="125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85432" y="4078224"/>
            <a:ext cx="274320" cy="27432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885432" y="438912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FA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6885432" y="459028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4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RNGPIT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ellipse">
            <a:avLst/>
          </a:prstGeom>
          <a:solidFill>
            <a:srgbClr val="1F4A3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35508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45720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Presentation Covers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1024128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13232" y="1677924"/>
            <a:ext cx="438912" cy="438912"/>
          </a:xfrm>
          <a:prstGeom prst="ellipse">
            <a:avLst/>
          </a:prstGeom>
          <a:solidFill>
            <a:srgbClr val="E7EEE4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349" y="1792041"/>
            <a:ext cx="210678" cy="21067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71600" y="1627632"/>
            <a:ext cx="32918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Connection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4754880" y="1627632"/>
            <a:ext cx="585216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C5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SDG 17 (Partnerships) stood out while exploring these tools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548640" y="2331720"/>
            <a:ext cx="1024128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713232" y="2455164"/>
            <a:ext cx="438912" cy="438912"/>
          </a:xfrm>
          <a:prstGeom prst="ellipse">
            <a:avLst/>
          </a:prstGeom>
          <a:solidFill>
            <a:srgbClr val="E7EEE4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349" y="2569281"/>
            <a:ext cx="210678" cy="21067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71600" y="2404872"/>
            <a:ext cx="32918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Centre Insights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4754880" y="2404872"/>
            <a:ext cx="585216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C5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documentary revealed about AI's hidden energy cost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548640" y="3108960"/>
            <a:ext cx="1024128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713232" y="3232404"/>
            <a:ext cx="438912" cy="438912"/>
          </a:xfrm>
          <a:prstGeom prst="ellipse">
            <a:avLst/>
          </a:prstGeom>
          <a:solidFill>
            <a:srgbClr val="E7EEE4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349" y="3346521"/>
            <a:ext cx="210678" cy="21067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71600" y="3182112"/>
            <a:ext cx="32918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Govt &amp; Global Tools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4754880" y="3182112"/>
            <a:ext cx="585216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C5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e-AMRIT, En-ROADS, footprint &amp; carbon calculators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548640" y="3886200"/>
            <a:ext cx="1024128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713232" y="4009644"/>
            <a:ext cx="438912" cy="438912"/>
          </a:xfrm>
          <a:prstGeom prst="ellipse">
            <a:avLst/>
          </a:prstGeom>
          <a:solidFill>
            <a:srgbClr val="E7EEE4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349" y="4123761"/>
            <a:ext cx="210678" cy="21067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371600" y="3959352"/>
            <a:ext cx="32918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Skilling &amp; AI</a:t>
            </a:r>
            <a:endParaRPr lang="en-US" sz="1400" dirty="0"/>
          </a:p>
        </p:txBody>
      </p:sp>
      <p:sp>
        <p:nvSpPr>
          <p:cNvPr id="24" name="Text 17"/>
          <p:cNvSpPr/>
          <p:nvPr/>
        </p:nvSpPr>
        <p:spPr>
          <a:xfrm>
            <a:off x="4754880" y="3959352"/>
            <a:ext cx="585216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C5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 basics, and where AI helps vs. hurts</a:t>
            </a:r>
            <a:endParaRPr lang="en-US" sz="1250" dirty="0"/>
          </a:p>
        </p:txBody>
      </p:sp>
      <p:sp>
        <p:nvSpPr>
          <p:cNvPr id="25" name="Shape 18"/>
          <p:cNvSpPr/>
          <p:nvPr/>
        </p:nvSpPr>
        <p:spPr>
          <a:xfrm>
            <a:off x="548640" y="4663440"/>
            <a:ext cx="1024128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713232" y="4786884"/>
            <a:ext cx="438912" cy="438912"/>
          </a:xfrm>
          <a:prstGeom prst="ellipse">
            <a:avLst/>
          </a:prstGeom>
          <a:solidFill>
            <a:srgbClr val="E7EEE4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7349" y="4901001"/>
            <a:ext cx="210678" cy="210678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1371600" y="4736592"/>
            <a:ext cx="32918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</a:t>
            </a:r>
            <a:endParaRPr lang="en-US" sz="1400" dirty="0"/>
          </a:p>
        </p:txBody>
      </p:sp>
      <p:sp>
        <p:nvSpPr>
          <p:cNvPr id="29" name="Text 21"/>
          <p:cNvSpPr/>
          <p:nvPr/>
        </p:nvSpPr>
        <p:spPr>
          <a:xfrm>
            <a:off x="4754880" y="4736592"/>
            <a:ext cx="585216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C5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project idea for environment &amp; green skilling (Python + PPT)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4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ellipse">
            <a:avLst/>
          </a:prstGeom>
          <a:solidFill>
            <a:srgbClr val="6FA85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35508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45720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Learning: SDG 17 — Partnerships for the Goals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1371600"/>
            <a:ext cx="6035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CE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all the tools I explored, the idea behind SDG 17 stood out the most. None of these platforms work alone — each one only succeeds because different groups team up.</a:t>
            </a:r>
            <a:endParaRPr lang="en-US" sz="15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743200"/>
            <a:ext cx="320040" cy="3200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05840" y="269748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FA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—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built the En-ROADS simulator for public policy testing</a:t>
            </a:r>
            <a:endParaRPr lang="en-US" sz="12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310128"/>
            <a:ext cx="320040" cy="32004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05840" y="3264408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FA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NGOs —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Conservation International runs the footprint &amp; carbon calculator</a:t>
            </a:r>
            <a:endParaRPr lang="en-US" sz="12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877056"/>
            <a:ext cx="320040" cy="32004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005840" y="3831336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FA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—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NITI Aayog's e-AMRIT helps citizens track EV-linked CO2 savings</a:t>
            </a:r>
            <a:endParaRPr lang="en-US" sz="125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4443984"/>
            <a:ext cx="320040" cy="32004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005840" y="4398264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FA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Private/AI Companies —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NANDO partners with 80+ companies across 17 countries for smart waste AI</a:t>
            </a:r>
            <a:endParaRPr lang="en-US" sz="1250" dirty="0"/>
          </a:p>
        </p:txBody>
      </p:sp>
      <p:sp>
        <p:nvSpPr>
          <p:cNvPr id="14" name="Shape 7"/>
          <p:cNvSpPr/>
          <p:nvPr/>
        </p:nvSpPr>
        <p:spPr>
          <a:xfrm>
            <a:off x="6949440" y="1371600"/>
            <a:ext cx="4663440" cy="3703320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/>
        </p:spPr>
      </p:sp>
      <p:sp>
        <p:nvSpPr>
          <p:cNvPr id="15" name="Text 8"/>
          <p:cNvSpPr/>
          <p:nvPr/>
        </p:nvSpPr>
        <p:spPr>
          <a:xfrm>
            <a:off x="7223760" y="16002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 chose SDG 17</a:t>
            </a:r>
            <a:endParaRPr lang="en-US" sz="1400" dirty="0"/>
          </a:p>
        </p:txBody>
      </p:sp>
      <p:sp>
        <p:nvSpPr>
          <p:cNvPr id="16" name="Text 9"/>
          <p:cNvSpPr/>
          <p:nvPr/>
        </p:nvSpPr>
        <p:spPr>
          <a:xfrm>
            <a:off x="7223760" y="205740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1F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"No single app, government, or company can fix climate change alone."</a:t>
            </a:r>
            <a:endParaRPr lang="en-US" sz="1700" dirty="0"/>
          </a:p>
        </p:txBody>
      </p:sp>
      <p:sp>
        <p:nvSpPr>
          <p:cNvPr id="17" name="Shape 10"/>
          <p:cNvSpPr/>
          <p:nvPr/>
        </p:nvSpPr>
        <p:spPr>
          <a:xfrm>
            <a:off x="7223760" y="3063240"/>
            <a:ext cx="3840480" cy="0"/>
          </a:xfrm>
          <a:prstGeom prst="line">
            <a:avLst/>
          </a:prstGeom>
          <a:noFill/>
          <a:ln w="19050">
            <a:solidFill>
              <a:srgbClr val="E4EFE0"/>
            </a:solidFill>
            <a:prstDash val="solid"/>
          </a:ln>
        </p:spPr>
      </p:sp>
      <p:sp>
        <p:nvSpPr>
          <p:cNvPr id="18" name="Text 11"/>
          <p:cNvSpPr/>
          <p:nvPr/>
        </p:nvSpPr>
        <p:spPr>
          <a:xfrm>
            <a:off x="7223760" y="3200400"/>
            <a:ext cx="4114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C5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tool in this seminar exists because a government body, a university, an NGO, or a company chose to share data and build public platforms — that IS partnership in action.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ellipse">
            <a:avLst/>
          </a:prstGeom>
          <a:solidFill>
            <a:srgbClr val="1F4A3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35508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45720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Learning: Insights from the Data Centre Documentary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137160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4C5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video on data centres changed how I think about the internet and AI — every search, video, and chatbot reply is processed somewhere in a physical building that consumes real electricity and water.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548640" y="2423160"/>
            <a:ext cx="3337560" cy="1371600"/>
          </a:xfrm>
          <a:prstGeom prst="roundRect">
            <a:avLst>
              <a:gd name="adj" fmla="val 5333"/>
            </a:avLst>
          </a:prstGeom>
          <a:solidFill>
            <a:srgbClr val="1F4A3D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256032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FA8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1-2%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731520" y="320040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global electricity is already used by data centres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142232" y="2423160"/>
            <a:ext cx="3337560" cy="1371600"/>
          </a:xfrm>
          <a:prstGeom prst="roundRect">
            <a:avLst>
              <a:gd name="adj" fmla="val 5333"/>
            </a:avLst>
          </a:prstGeom>
          <a:solidFill>
            <a:srgbClr val="1F4A3D"/>
          </a:solidFill>
          <a:ln/>
        </p:spPr>
      </p:sp>
      <p:sp>
        <p:nvSpPr>
          <p:cNvPr id="10" name="Text 7"/>
          <p:cNvSpPr/>
          <p:nvPr/>
        </p:nvSpPr>
        <p:spPr>
          <a:xfrm>
            <a:off x="4325112" y="256032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FA8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24x7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4325112" y="320040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servers &amp; cooling systems run non-stop, all year round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7735824" y="2423160"/>
            <a:ext cx="3337560" cy="1371600"/>
          </a:xfrm>
          <a:prstGeom prst="roundRect">
            <a:avLst>
              <a:gd name="adj" fmla="val 5333"/>
            </a:avLst>
          </a:prstGeom>
          <a:solidFill>
            <a:srgbClr val="1F4A3D"/>
          </a:solidFill>
          <a:ln/>
        </p:spPr>
      </p:sp>
      <p:sp>
        <p:nvSpPr>
          <p:cNvPr id="13" name="Text 10"/>
          <p:cNvSpPr/>
          <p:nvPr/>
        </p:nvSpPr>
        <p:spPr>
          <a:xfrm>
            <a:off x="7918704" y="256032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FA8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⇧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7918704" y="320040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workloads are the fastest-growing driver of new demand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548640" y="4069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takeaway: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48640" y="4370832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C5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AI responsibly also means being aware of its hidden environmental cost — efficiency and renewable-powered data centres matter as much as the AI models themselves.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ellipse">
            <a:avLst/>
          </a:prstGeom>
          <a:solidFill>
            <a:srgbClr val="1F4A3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35508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45720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Learning: Government &amp; Global Digital Tools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10241280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13232" y="1618488"/>
            <a:ext cx="438912" cy="438912"/>
          </a:xfrm>
          <a:prstGeom prst="ellipse">
            <a:avLst/>
          </a:prstGeom>
          <a:solidFill>
            <a:srgbClr val="E7EEE4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349" y="1732605"/>
            <a:ext cx="210678" cy="21067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71600" y="1508760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e-AMRIT (Govt. of India / NITI Aayog)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5394960" y="1508760"/>
            <a:ext cx="5212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C5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government CO2 calculator showing how switching to EVs cuts personal emissions — data-driven policy made public.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548640" y="2331720"/>
            <a:ext cx="10241280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713232" y="2532888"/>
            <a:ext cx="438912" cy="438912"/>
          </a:xfrm>
          <a:prstGeom prst="ellipse">
            <a:avLst/>
          </a:prstGeom>
          <a:solidFill>
            <a:srgbClr val="E7EEE4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349" y="2647005"/>
            <a:ext cx="210678" cy="21067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71600" y="2423160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En-ROADS Simulator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5394960" y="2423160"/>
            <a:ext cx="5212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C5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anyone test global climate policies (energy, carbon price, land use) and see projected 2100 temperature outcomes.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548640" y="3246120"/>
            <a:ext cx="10241280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713232" y="3447288"/>
            <a:ext cx="438912" cy="438912"/>
          </a:xfrm>
          <a:prstGeom prst="ellipse">
            <a:avLst/>
          </a:prstGeom>
          <a:solidFill>
            <a:srgbClr val="E7EEE4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349" y="3561405"/>
            <a:ext cx="210678" cy="21067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71600" y="3337560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Footprint &amp; Carbon Calculators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5394960" y="3337560"/>
            <a:ext cx="5212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C5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Conservation International &amp; EcoTransIT tools turn personal habits and shipping routes into real CO2 numbers.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548640" y="4160520"/>
            <a:ext cx="10241280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713232" y="4361688"/>
            <a:ext cx="438912" cy="438912"/>
          </a:xfrm>
          <a:prstGeom prst="ellipse">
            <a:avLst/>
          </a:prstGeom>
          <a:solidFill>
            <a:srgbClr val="E7EEE4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349" y="4475805"/>
            <a:ext cx="210678" cy="21067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371600" y="4251960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NANDO AI Waste Monitoring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5394960" y="4251960"/>
            <a:ext cx="5212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C5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AI already working at scale — 80+ companies, 17 countries — to make waste collection smarter.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ellipse">
            <a:avLst/>
          </a:prstGeom>
          <a:solidFill>
            <a:srgbClr val="1F4A3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35508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45720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Activities Explored (Tool Previews)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118872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C5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screenshots weren't accessible in this offline environment, so here are simple previews of the activity performed on each platform.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502920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1691640"/>
            <a:ext cx="5029200" cy="292608"/>
          </a:xfrm>
          <a:prstGeom prst="roundRect">
            <a:avLst>
              <a:gd name="adj" fmla="val 18750"/>
            </a:avLst>
          </a:prstGeom>
          <a:solidFill>
            <a:srgbClr val="E7EEE4"/>
          </a:solidFill>
          <a:ln/>
        </p:spPr>
      </p:sp>
      <p:sp>
        <p:nvSpPr>
          <p:cNvPr id="8" name="Shape 5"/>
          <p:cNvSpPr/>
          <p:nvPr/>
        </p:nvSpPr>
        <p:spPr>
          <a:xfrm>
            <a:off x="548640" y="1837944"/>
            <a:ext cx="5029200" cy="146304"/>
          </a:xfrm>
          <a:prstGeom prst="rect">
            <a:avLst/>
          </a:prstGeom>
          <a:solidFill>
            <a:srgbClr val="E7EEE4"/>
          </a:solidFill>
          <a:ln/>
        </p:spPr>
      </p:sp>
      <p:sp>
        <p:nvSpPr>
          <p:cNvPr id="9" name="Shape 6"/>
          <p:cNvSpPr/>
          <p:nvPr/>
        </p:nvSpPr>
        <p:spPr>
          <a:xfrm>
            <a:off x="658368" y="1783080"/>
            <a:ext cx="100584" cy="100584"/>
          </a:xfrm>
          <a:prstGeom prst="ellipse">
            <a:avLst/>
          </a:prstGeom>
          <a:solidFill>
            <a:srgbClr val="E4756A"/>
          </a:solidFill>
          <a:ln/>
        </p:spPr>
      </p:sp>
      <p:sp>
        <p:nvSpPr>
          <p:cNvPr id="10" name="Shape 7"/>
          <p:cNvSpPr/>
          <p:nvPr/>
        </p:nvSpPr>
        <p:spPr>
          <a:xfrm>
            <a:off x="822960" y="1783080"/>
            <a:ext cx="100584" cy="100584"/>
          </a:xfrm>
          <a:prstGeom prst="ellipse">
            <a:avLst/>
          </a:prstGeom>
          <a:solidFill>
            <a:srgbClr val="E8C468"/>
          </a:solidFill>
          <a:ln/>
        </p:spPr>
      </p:sp>
      <p:sp>
        <p:nvSpPr>
          <p:cNvPr id="11" name="Shape 8"/>
          <p:cNvSpPr/>
          <p:nvPr/>
        </p:nvSpPr>
        <p:spPr>
          <a:xfrm>
            <a:off x="987552" y="1783080"/>
            <a:ext cx="100584" cy="100584"/>
          </a:xfrm>
          <a:prstGeom prst="ellipse">
            <a:avLst/>
          </a:prstGeom>
          <a:solidFill>
            <a:srgbClr val="7FBE7A"/>
          </a:solidFill>
          <a:ln/>
        </p:spPr>
      </p:sp>
      <p:sp>
        <p:nvSpPr>
          <p:cNvPr id="12" name="Text 9"/>
          <p:cNvSpPr/>
          <p:nvPr/>
        </p:nvSpPr>
        <p:spPr>
          <a:xfrm>
            <a:off x="1188720" y="170992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C5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en-roads.climateinteractive.org</a:t>
            </a:r>
            <a:endParaRPr lang="en-US" sz="95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194560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325880" y="213055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En-ROADS Simulation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777240" y="269748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C5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renewable energy +40%, carbon price +$50/ton →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C5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warming reduced on live graph.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5852160" y="1691640"/>
            <a:ext cx="502920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852160" y="1691640"/>
            <a:ext cx="5029200" cy="292608"/>
          </a:xfrm>
          <a:prstGeom prst="roundRect">
            <a:avLst>
              <a:gd name="adj" fmla="val 18750"/>
            </a:avLst>
          </a:prstGeom>
          <a:solidFill>
            <a:srgbClr val="E7EEE4"/>
          </a:solidFill>
          <a:ln/>
        </p:spPr>
      </p:sp>
      <p:sp>
        <p:nvSpPr>
          <p:cNvPr id="18" name="Shape 14"/>
          <p:cNvSpPr/>
          <p:nvPr/>
        </p:nvSpPr>
        <p:spPr>
          <a:xfrm>
            <a:off x="5852160" y="1837944"/>
            <a:ext cx="5029200" cy="146304"/>
          </a:xfrm>
          <a:prstGeom prst="rect">
            <a:avLst/>
          </a:prstGeom>
          <a:solidFill>
            <a:srgbClr val="E7EEE4"/>
          </a:solidFill>
          <a:ln/>
        </p:spPr>
      </p:sp>
      <p:sp>
        <p:nvSpPr>
          <p:cNvPr id="19" name="Shape 15"/>
          <p:cNvSpPr/>
          <p:nvPr/>
        </p:nvSpPr>
        <p:spPr>
          <a:xfrm>
            <a:off x="5961888" y="1783080"/>
            <a:ext cx="100584" cy="100584"/>
          </a:xfrm>
          <a:prstGeom prst="ellipse">
            <a:avLst/>
          </a:prstGeom>
          <a:solidFill>
            <a:srgbClr val="E4756A"/>
          </a:solidFill>
          <a:ln/>
        </p:spPr>
      </p:sp>
      <p:sp>
        <p:nvSpPr>
          <p:cNvPr id="20" name="Shape 16"/>
          <p:cNvSpPr/>
          <p:nvPr/>
        </p:nvSpPr>
        <p:spPr>
          <a:xfrm>
            <a:off x="6126480" y="1783080"/>
            <a:ext cx="100584" cy="100584"/>
          </a:xfrm>
          <a:prstGeom prst="ellipse">
            <a:avLst/>
          </a:prstGeom>
          <a:solidFill>
            <a:srgbClr val="E8C468"/>
          </a:solidFill>
          <a:ln/>
        </p:spPr>
      </p:sp>
      <p:sp>
        <p:nvSpPr>
          <p:cNvPr id="21" name="Shape 17"/>
          <p:cNvSpPr/>
          <p:nvPr/>
        </p:nvSpPr>
        <p:spPr>
          <a:xfrm>
            <a:off x="6291072" y="1783080"/>
            <a:ext cx="100584" cy="100584"/>
          </a:xfrm>
          <a:prstGeom prst="ellipse">
            <a:avLst/>
          </a:prstGeom>
          <a:solidFill>
            <a:srgbClr val="7FBE7A"/>
          </a:solidFill>
          <a:ln/>
        </p:spPr>
      </p:sp>
      <p:sp>
        <p:nvSpPr>
          <p:cNvPr id="22" name="Text 18"/>
          <p:cNvSpPr/>
          <p:nvPr/>
        </p:nvSpPr>
        <p:spPr>
          <a:xfrm>
            <a:off x="6492240" y="170992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C5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footprint.conservation.org</a:t>
            </a:r>
            <a:endParaRPr lang="en-US" sz="950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2194560"/>
            <a:ext cx="411480" cy="41148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629400" y="213055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Footprint Quiz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6080760" y="269748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C5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Answered lifestyle questions (travel, diet, home energy) →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C5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got a personal tons-CO2/year score.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548640" y="3703320"/>
            <a:ext cx="502920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548640" y="3703320"/>
            <a:ext cx="5029200" cy="292608"/>
          </a:xfrm>
          <a:prstGeom prst="roundRect">
            <a:avLst>
              <a:gd name="adj" fmla="val 18750"/>
            </a:avLst>
          </a:prstGeom>
          <a:solidFill>
            <a:srgbClr val="E7EEE4"/>
          </a:solidFill>
          <a:ln/>
        </p:spPr>
      </p:sp>
      <p:sp>
        <p:nvSpPr>
          <p:cNvPr id="28" name="Shape 23"/>
          <p:cNvSpPr/>
          <p:nvPr/>
        </p:nvSpPr>
        <p:spPr>
          <a:xfrm>
            <a:off x="548640" y="3849624"/>
            <a:ext cx="5029200" cy="146304"/>
          </a:xfrm>
          <a:prstGeom prst="rect">
            <a:avLst/>
          </a:prstGeom>
          <a:solidFill>
            <a:srgbClr val="E7EEE4"/>
          </a:solidFill>
          <a:ln/>
        </p:spPr>
      </p:sp>
      <p:sp>
        <p:nvSpPr>
          <p:cNvPr id="29" name="Shape 24"/>
          <p:cNvSpPr/>
          <p:nvPr/>
        </p:nvSpPr>
        <p:spPr>
          <a:xfrm>
            <a:off x="658368" y="3794760"/>
            <a:ext cx="100584" cy="100584"/>
          </a:xfrm>
          <a:prstGeom prst="ellipse">
            <a:avLst/>
          </a:prstGeom>
          <a:solidFill>
            <a:srgbClr val="E4756A"/>
          </a:solidFill>
          <a:ln/>
        </p:spPr>
      </p:sp>
      <p:sp>
        <p:nvSpPr>
          <p:cNvPr id="30" name="Shape 25"/>
          <p:cNvSpPr/>
          <p:nvPr/>
        </p:nvSpPr>
        <p:spPr>
          <a:xfrm>
            <a:off x="822960" y="3794760"/>
            <a:ext cx="100584" cy="100584"/>
          </a:xfrm>
          <a:prstGeom prst="ellipse">
            <a:avLst/>
          </a:prstGeom>
          <a:solidFill>
            <a:srgbClr val="E8C468"/>
          </a:solidFill>
          <a:ln/>
        </p:spPr>
      </p:sp>
      <p:sp>
        <p:nvSpPr>
          <p:cNvPr id="31" name="Shape 26"/>
          <p:cNvSpPr/>
          <p:nvPr/>
        </p:nvSpPr>
        <p:spPr>
          <a:xfrm>
            <a:off x="987552" y="3794760"/>
            <a:ext cx="100584" cy="100584"/>
          </a:xfrm>
          <a:prstGeom prst="ellipse">
            <a:avLst/>
          </a:prstGeom>
          <a:solidFill>
            <a:srgbClr val="7FBE7A"/>
          </a:solidFill>
          <a:ln/>
        </p:spPr>
      </p:sp>
      <p:sp>
        <p:nvSpPr>
          <p:cNvPr id="32" name="Text 27"/>
          <p:cNvSpPr/>
          <p:nvPr/>
        </p:nvSpPr>
        <p:spPr>
          <a:xfrm>
            <a:off x="1188720" y="372160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C5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e-amrit.niti.gov.in</a:t>
            </a:r>
            <a:endParaRPr lang="en-US" sz="950" dirty="0"/>
          </a:p>
        </p:txBody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206240"/>
            <a:ext cx="411480" cy="411480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1325880" y="414223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e-AMRIT CO2 Calculator</a:t>
            </a:r>
            <a:endParaRPr lang="en-US" sz="1300" dirty="0"/>
          </a:p>
        </p:txBody>
      </p:sp>
      <p:sp>
        <p:nvSpPr>
          <p:cNvPr id="35" name="Text 29"/>
          <p:cNvSpPr/>
          <p:nvPr/>
        </p:nvSpPr>
        <p:spPr>
          <a:xfrm>
            <a:off x="777240" y="470916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C5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petrol vs. EV two-wheeler over 5 years →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C5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saw estimated CO2 &amp; cost savings.</a:t>
            </a:r>
            <a:endParaRPr lang="en-US" sz="1100" dirty="0"/>
          </a:p>
        </p:txBody>
      </p:sp>
      <p:sp>
        <p:nvSpPr>
          <p:cNvPr id="36" name="Shape 30"/>
          <p:cNvSpPr/>
          <p:nvPr/>
        </p:nvSpPr>
        <p:spPr>
          <a:xfrm>
            <a:off x="5852160" y="3703320"/>
            <a:ext cx="502920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37" name="Shape 31"/>
          <p:cNvSpPr/>
          <p:nvPr/>
        </p:nvSpPr>
        <p:spPr>
          <a:xfrm>
            <a:off x="5852160" y="3703320"/>
            <a:ext cx="5029200" cy="292608"/>
          </a:xfrm>
          <a:prstGeom prst="roundRect">
            <a:avLst>
              <a:gd name="adj" fmla="val 18750"/>
            </a:avLst>
          </a:prstGeom>
          <a:solidFill>
            <a:srgbClr val="E7EEE4"/>
          </a:solidFill>
          <a:ln/>
        </p:spPr>
      </p:sp>
      <p:sp>
        <p:nvSpPr>
          <p:cNvPr id="38" name="Shape 32"/>
          <p:cNvSpPr/>
          <p:nvPr/>
        </p:nvSpPr>
        <p:spPr>
          <a:xfrm>
            <a:off x="5852160" y="3849624"/>
            <a:ext cx="5029200" cy="146304"/>
          </a:xfrm>
          <a:prstGeom prst="rect">
            <a:avLst/>
          </a:prstGeom>
          <a:solidFill>
            <a:srgbClr val="E7EEE4"/>
          </a:solidFill>
          <a:ln/>
        </p:spPr>
      </p:sp>
      <p:sp>
        <p:nvSpPr>
          <p:cNvPr id="39" name="Shape 33"/>
          <p:cNvSpPr/>
          <p:nvPr/>
        </p:nvSpPr>
        <p:spPr>
          <a:xfrm>
            <a:off x="5961888" y="3794760"/>
            <a:ext cx="100584" cy="100584"/>
          </a:xfrm>
          <a:prstGeom prst="ellipse">
            <a:avLst/>
          </a:prstGeom>
          <a:solidFill>
            <a:srgbClr val="E4756A"/>
          </a:solidFill>
          <a:ln/>
        </p:spPr>
      </p:sp>
      <p:sp>
        <p:nvSpPr>
          <p:cNvPr id="40" name="Shape 34"/>
          <p:cNvSpPr/>
          <p:nvPr/>
        </p:nvSpPr>
        <p:spPr>
          <a:xfrm>
            <a:off x="6126480" y="3794760"/>
            <a:ext cx="100584" cy="100584"/>
          </a:xfrm>
          <a:prstGeom prst="ellipse">
            <a:avLst/>
          </a:prstGeom>
          <a:solidFill>
            <a:srgbClr val="E8C468"/>
          </a:solidFill>
          <a:ln/>
        </p:spPr>
      </p:sp>
      <p:sp>
        <p:nvSpPr>
          <p:cNvPr id="41" name="Shape 35"/>
          <p:cNvSpPr/>
          <p:nvPr/>
        </p:nvSpPr>
        <p:spPr>
          <a:xfrm>
            <a:off x="6291072" y="3794760"/>
            <a:ext cx="100584" cy="100584"/>
          </a:xfrm>
          <a:prstGeom prst="ellipse">
            <a:avLst/>
          </a:prstGeom>
          <a:solidFill>
            <a:srgbClr val="7FBE7A"/>
          </a:solidFill>
          <a:ln/>
        </p:spPr>
      </p:sp>
      <p:sp>
        <p:nvSpPr>
          <p:cNvPr id="42" name="Text 36"/>
          <p:cNvSpPr/>
          <p:nvPr/>
        </p:nvSpPr>
        <p:spPr>
          <a:xfrm>
            <a:off x="6492240" y="372160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C5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emissioncalculator.ecotransit.world</a:t>
            </a:r>
            <a:endParaRPr lang="en-US" sz="950" dirty="0"/>
          </a:p>
        </p:txBody>
      </p:sp>
      <p:pic>
        <p:nvPicPr>
          <p:cNvPr id="4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0760" y="4206240"/>
            <a:ext cx="411480" cy="411480"/>
          </a:xfrm>
          <a:prstGeom prst="rect">
            <a:avLst/>
          </a:prstGeom>
        </p:spPr>
      </p:pic>
      <p:sp>
        <p:nvSpPr>
          <p:cNvPr id="44" name="Text 37"/>
          <p:cNvSpPr/>
          <p:nvPr/>
        </p:nvSpPr>
        <p:spPr>
          <a:xfrm>
            <a:off x="6629400" y="414223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EcoTransIT Shipment Calc</a:t>
            </a:r>
            <a:endParaRPr lang="en-US" sz="1300" dirty="0"/>
          </a:p>
        </p:txBody>
      </p:sp>
      <p:sp>
        <p:nvSpPr>
          <p:cNvPr id="45" name="Text 38"/>
          <p:cNvSpPr/>
          <p:nvPr/>
        </p:nvSpPr>
        <p:spPr>
          <a:xfrm>
            <a:off x="6080760" y="470916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C5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Entered a sample shipping route →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C5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CO2 emitted by road vs. air vs. sea.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ellipse">
            <a:avLst/>
          </a:prstGeom>
          <a:solidFill>
            <a:srgbClr val="1F4A3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35508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45720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Reference: Green Skilling, Sustainability &amp; AI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280160"/>
            <a:ext cx="50292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31520" y="1444752"/>
            <a:ext cx="457200" cy="457200"/>
          </a:xfrm>
          <a:prstGeom prst="ellipse">
            <a:avLst/>
          </a:prstGeom>
          <a:solidFill>
            <a:srgbClr val="E7EEE4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1563624"/>
            <a:ext cx="219456" cy="21945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71600" y="14173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Skilling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1371600" y="1719072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C5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people for eco-friendly careers — solar techs, EV mechanics, waste managers — so the green economy has skilled workers (e.g., SCGJ).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760720" y="1280160"/>
            <a:ext cx="50292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943600" y="1444752"/>
            <a:ext cx="457200" cy="457200"/>
          </a:xfrm>
          <a:prstGeom prst="ellipse">
            <a:avLst/>
          </a:prstGeom>
          <a:solidFill>
            <a:srgbClr val="E7EEE4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2472" y="1563624"/>
            <a:ext cx="219456" cy="21945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583680" y="14173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6583680" y="1719072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C5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today's needs (environmental, social, economic) without harming the ability of future generations to meet theirs.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548640" y="2743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Sustainability — Two Sides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548640" y="3108960"/>
            <a:ext cx="5029200" cy="1783080"/>
          </a:xfrm>
          <a:prstGeom prst="roundRect">
            <a:avLst>
              <a:gd name="adj" fmla="val 4103"/>
            </a:avLst>
          </a:prstGeom>
          <a:solidFill>
            <a:srgbClr val="E9F3EA"/>
          </a:solidFill>
          <a:ln/>
        </p:spPr>
      </p:sp>
      <p:sp>
        <p:nvSpPr>
          <p:cNvPr id="17" name="Text 12"/>
          <p:cNvSpPr/>
          <p:nvPr/>
        </p:nvSpPr>
        <p:spPr>
          <a:xfrm>
            <a:off x="777240" y="3246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7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Where AI Helps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868680" y="361188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3D7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8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Optimizes power grids &amp; renewable energy use</a:t>
            </a:r>
            <a:endParaRPr lang="en-US" sz="1080" dirty="0"/>
          </a:p>
        </p:txBody>
      </p:sp>
      <p:sp>
        <p:nvSpPr>
          <p:cNvPr id="19" name="Text 14"/>
          <p:cNvSpPr/>
          <p:nvPr/>
        </p:nvSpPr>
        <p:spPr>
          <a:xfrm>
            <a:off x="868680" y="393192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3D7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8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climate patterns and natural disasters</a:t>
            </a:r>
            <a:endParaRPr lang="en-US" sz="1080" dirty="0"/>
          </a:p>
        </p:txBody>
      </p:sp>
      <p:sp>
        <p:nvSpPr>
          <p:cNvPr id="20" name="Text 15"/>
          <p:cNvSpPr/>
          <p:nvPr/>
        </p:nvSpPr>
        <p:spPr>
          <a:xfrm>
            <a:off x="868680" y="425196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3D7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8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Sorts waste &amp; detects recyclables (e.g., NANDO)</a:t>
            </a:r>
            <a:endParaRPr lang="en-US" sz="1080" dirty="0"/>
          </a:p>
        </p:txBody>
      </p:sp>
      <p:sp>
        <p:nvSpPr>
          <p:cNvPr id="21" name="Text 16"/>
          <p:cNvSpPr/>
          <p:nvPr/>
        </p:nvSpPr>
        <p:spPr>
          <a:xfrm>
            <a:off x="868680" y="457200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3D7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8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precision farming, cutting water/fertilizer waste</a:t>
            </a:r>
            <a:endParaRPr lang="en-US" sz="1080" dirty="0"/>
          </a:p>
        </p:txBody>
      </p:sp>
      <p:sp>
        <p:nvSpPr>
          <p:cNvPr id="22" name="Shape 17"/>
          <p:cNvSpPr/>
          <p:nvPr/>
        </p:nvSpPr>
        <p:spPr>
          <a:xfrm>
            <a:off x="5760720" y="3108960"/>
            <a:ext cx="5029200" cy="1783080"/>
          </a:xfrm>
          <a:prstGeom prst="roundRect">
            <a:avLst>
              <a:gd name="adj" fmla="val 4103"/>
            </a:avLst>
          </a:prstGeom>
          <a:solidFill>
            <a:srgbClr val="FBEEE9"/>
          </a:solidFill>
          <a:ln/>
        </p:spPr>
      </p:sp>
      <p:sp>
        <p:nvSpPr>
          <p:cNvPr id="23" name="Text 18"/>
          <p:cNvSpPr/>
          <p:nvPr/>
        </p:nvSpPr>
        <p:spPr>
          <a:xfrm>
            <a:off x="5989320" y="3246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94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Where AI Hurts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6080760" y="361188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A94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8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large AI models uses huge electricity &amp; water</a:t>
            </a:r>
            <a:endParaRPr lang="en-US" sz="1080" dirty="0"/>
          </a:p>
        </p:txBody>
      </p:sp>
      <p:sp>
        <p:nvSpPr>
          <p:cNvPr id="25" name="Text 20"/>
          <p:cNvSpPr/>
          <p:nvPr/>
        </p:nvSpPr>
        <p:spPr>
          <a:xfrm>
            <a:off x="6080760" y="393192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A94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8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hardware demand increases e-waste</a:t>
            </a:r>
            <a:endParaRPr lang="en-US" sz="1080" dirty="0"/>
          </a:p>
        </p:txBody>
      </p:sp>
      <p:sp>
        <p:nvSpPr>
          <p:cNvPr id="26" name="Text 21"/>
          <p:cNvSpPr/>
          <p:nvPr/>
        </p:nvSpPr>
        <p:spPr>
          <a:xfrm>
            <a:off x="6080760" y="425196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A94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8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centres often still rely on fossil-fuel power</a:t>
            </a:r>
            <a:endParaRPr lang="en-US" sz="1080" dirty="0"/>
          </a:p>
        </p:txBody>
      </p:sp>
      <p:sp>
        <p:nvSpPr>
          <p:cNvPr id="27" name="Text 22"/>
          <p:cNvSpPr/>
          <p:nvPr/>
        </p:nvSpPr>
        <p:spPr>
          <a:xfrm>
            <a:off x="6080760" y="457200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A94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8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device upgrades shorten hardware lifespans</a:t>
            </a:r>
            <a:endParaRPr lang="en-US" sz="10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4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ellipse">
            <a:avLst/>
          </a:prstGeom>
          <a:solidFill>
            <a:srgbClr val="6FA85A"/>
          </a:solidFill>
          <a:ln/>
        </p:spPr>
        <p:txBody>
          <a:bodyPr/>
          <a:p/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35508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45720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Capstone Project: AI-Based Smart Water Management System</a:t>
            </a:r>
          </a:p>
        </p:txBody>
      </p:sp>
      <p:sp>
        <p:nvSpPr>
          <p:cNvPr id="5" name="Text 2"/>
          <p:cNvSpPr/>
          <p:nvPr/>
        </p:nvSpPr>
        <p:spPr>
          <a:xfrm>
            <a:off x="548640" y="12801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Project:</a:t>
            </a:r>
          </a:p>
          <a:p>
            <a:r>
              <a:t>AI-Based Smart Water Management System</a:t>
            </a:r>
          </a:p>
        </p:txBody>
      </p:sp>
      <p:sp>
        <p:nvSpPr>
          <p:cNvPr id="6" name="Text 3"/>
          <p:cNvSpPr/>
          <p:nvPr/>
        </p:nvSpPr>
        <p:spPr>
          <a:xfrm>
            <a:off x="548640" y="1645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Objective: Use AI to detect leaks, monitor water usage and predict demand.</a:t>
            </a:r>
          </a:p>
        </p:txBody>
      </p:sp>
      <p:sp>
        <p:nvSpPr>
          <p:cNvPr id="7" name="Text 4"/>
          <p:cNvSpPr/>
          <p:nvPr/>
        </p:nvSpPr>
        <p:spPr>
          <a:xfrm>
            <a:off x="548640" y="20116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Features:</a:t>
            </a:r>
          </a:p>
          <a:p>
            <a:r>
              <a:t>• Leak detection</a:t>
            </a:r>
          </a:p>
          <a:p>
            <a:r>
              <a:t>• Real-time monitoring</a:t>
            </a:r>
          </a:p>
          <a:p>
            <a:r>
              <a:t>• Demand prediction</a:t>
            </a:r>
          </a:p>
        </p:txBody>
      </p:sp>
      <p:sp>
        <p:nvSpPr>
          <p:cNvPr id="8" name="Text 5"/>
          <p:cNvSpPr/>
          <p:nvPr/>
        </p:nvSpPr>
        <p:spPr>
          <a:xfrm>
            <a:off x="548640" y="23774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Benefits:</a:t>
            </a:r>
          </a:p>
          <a:p>
            <a:r>
              <a:t>• Saves water</a:t>
            </a:r>
          </a:p>
          <a:p>
            <a:r>
              <a:t>• Reduces wastage</a:t>
            </a:r>
          </a:p>
          <a:p>
            <a:r>
              <a:t>• Supports SDGs 6, 13 &amp; 17</a:t>
            </a:r>
          </a:p>
        </p:txBody>
      </p:sp>
      <p:sp>
        <p:nvSpPr>
          <p:cNvPr id="9" name="Shape 6"/>
          <p:cNvSpPr/>
          <p:nvPr/>
        </p:nvSpPr>
        <p:spPr>
          <a:xfrm>
            <a:off x="548640" y="2971800"/>
            <a:ext cx="102412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777240" y="3200400"/>
            <a:ext cx="502920" cy="502920"/>
          </a:xfrm>
          <a:prstGeom prst="ellipse">
            <a:avLst/>
          </a:prstGeom>
          <a:solidFill>
            <a:srgbClr val="E7EEE4"/>
          </a:solidFill>
          <a:ln/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999" y="3331159"/>
            <a:ext cx="241402" cy="2414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17320" y="3200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Technology: AI + IoT sensors + Dashboard</a:t>
            </a:r>
          </a:p>
        </p:txBody>
      </p:sp>
      <p:sp>
        <p:nvSpPr>
          <p:cNvPr id="13" name="Shape 9"/>
          <p:cNvSpPr/>
          <p:nvPr/>
        </p:nvSpPr>
        <p:spPr>
          <a:xfrm>
            <a:off x="1417320" y="3657600"/>
            <a:ext cx="109728" cy="109728"/>
          </a:xfrm>
          <a:prstGeom prst="ellipse">
            <a:avLst/>
          </a:prstGeom>
          <a:solidFill>
            <a:srgbClr val="6FA85A"/>
          </a:solidFill>
          <a:ln/>
        </p:spPr>
        <p:txBody>
          <a:bodyPr/>
          <a:p/>
        </p:txBody>
      </p:sp>
      <p:sp>
        <p:nvSpPr>
          <p:cNvPr id="14" name="Text 10"/>
          <p:cNvSpPr/>
          <p:nvPr/>
        </p:nvSpPr>
        <p:spPr>
          <a:xfrm>
            <a:off x="1673352" y="353872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Trains a simple AI (linear regression) on lifestyle → CO2 data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263640" y="3657600"/>
            <a:ext cx="109728" cy="109728"/>
          </a:xfrm>
          <a:prstGeom prst="ellipse">
            <a:avLst/>
          </a:prstGeom>
          <a:solidFill>
            <a:srgbClr val="6FA85A"/>
          </a:solidFill>
          <a:ln/>
        </p:spPr>
        <p:txBody>
          <a:bodyPr/>
          <a:p/>
        </p:txBody>
      </p:sp>
      <p:sp>
        <p:nvSpPr>
          <p:cNvPr id="16" name="Text 12"/>
          <p:cNvSpPr/>
          <p:nvPr/>
        </p:nvSpPr>
        <p:spPr>
          <a:xfrm>
            <a:off x="6519672" y="353872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enters electricity, travel, flights &amp; diet habits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1417320" y="4160520"/>
            <a:ext cx="109728" cy="109728"/>
          </a:xfrm>
          <a:prstGeom prst="ellipse">
            <a:avLst/>
          </a:prstGeom>
          <a:solidFill>
            <a:srgbClr val="6FA85A"/>
          </a:solidFill>
          <a:ln/>
        </p:spPr>
        <p:txBody>
          <a:bodyPr/>
          <a:p/>
        </p:txBody>
      </p:sp>
      <p:sp>
        <p:nvSpPr>
          <p:cNvPr id="18" name="Text 14"/>
          <p:cNvSpPr/>
          <p:nvPr/>
        </p:nvSpPr>
        <p:spPr>
          <a:xfrm>
            <a:off x="1673352" y="404164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yearly footprint + shows category breakdown chart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6263640" y="4160520"/>
            <a:ext cx="109728" cy="109728"/>
          </a:xfrm>
          <a:prstGeom prst="ellipse">
            <a:avLst/>
          </a:prstGeom>
          <a:solidFill>
            <a:srgbClr val="6FA85A"/>
          </a:solidFill>
          <a:ln/>
        </p:spPr>
        <p:txBody>
          <a:bodyPr/>
          <a:p/>
        </p:txBody>
      </p:sp>
      <p:sp>
        <p:nvSpPr>
          <p:cNvPr id="20" name="Text 16"/>
          <p:cNvSpPr/>
          <p:nvPr/>
        </p:nvSpPr>
        <p:spPr>
          <a:xfrm>
            <a:off x="6519672" y="404164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Recommends tips AND a matching Green Job / SCGJ skilling track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1417320" y="46634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C5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Deliverables: EcoMitra.py (Python source code)  +  this presentation (.pptx)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548640" y="5074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Thank You — Harshal Patil | CSE | RNGPIT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&amp; Digital Tools for Environmental Sustainability</dc:title>
  <dc:subject>PptxGenJS Presentation</dc:subject>
  <dc:creator>Patil Om Kalyan</dc:creator>
  <cp:lastModifiedBy>Patil Om Kalyan</cp:lastModifiedBy>
  <cp:revision>1</cp:revision>
  <dcterms:created xsi:type="dcterms:W3CDTF">2026-07-06T10:35:27Z</dcterms:created>
  <dcterms:modified xsi:type="dcterms:W3CDTF">2026-07-06T10:35:27Z</dcterms:modified>
</cp:coreProperties>
</file>